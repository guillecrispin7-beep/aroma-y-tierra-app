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23" y="541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8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8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8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Diapositiva de título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6"/>
          <p:cNvSpPr/>
          <p:nvPr/>
        </p:nvSpPr>
        <p:spPr>
          <a:xfrm>
            <a:off x="1007533" y="0"/>
            <a:ext cx="7934348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84" name="Rectangle 7"/>
          <p:cNvSpPr/>
          <p:nvPr/>
        </p:nvSpPr>
        <p:spPr>
          <a:xfrm>
            <a:off x="8941881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anchor="b" tIns="0">
            <a:normAutofit/>
          </a:bodyPr>
          <a:lstStyle>
            <a:lvl1pPr algn="r" indent="0" marL="0">
              <a:buNone/>
              <a:defRPr b="0" sz="1800">
                <a:solidFill>
                  <a:schemeClr val="tx1"/>
                </a:solidFill>
              </a:defRPr>
            </a:lvl1pPr>
            <a:lvl2pPr algn="ctr" indent="0" marL="457200">
              <a:buNone/>
              <a:defRPr sz="18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 lang="en-US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AB3A824-1A51-4B26-AD58-A6D8E14F6C04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  <p:sp>
        <p:nvSpPr>
          <p:cNvPr id="1048590" name="TextBox 12"/>
          <p:cNvSpPr txBox="1"/>
          <p:nvPr/>
        </p:nvSpPr>
        <p:spPr>
          <a:xfrm>
            <a:off x="2191282" y="3262852"/>
            <a:ext cx="415636" cy="461665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24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24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ítulo y objetos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28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93" name="Rectangle 8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7D162C4-EDD9-4389-A98B-B87ECEA2A816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  <p:sp>
        <p:nvSpPr>
          <p:cNvPr id="1048599" name="TextBox 6"/>
          <p:cNvSpPr txBox="1"/>
          <p:nvPr/>
        </p:nvSpPr>
        <p:spPr>
          <a:xfrm>
            <a:off x="2194943" y="641225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Encabezado de sección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23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43" name="Rectangle 24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44" name="TextBox 10"/>
          <p:cNvSpPr txBox="1"/>
          <p:nvPr/>
        </p:nvSpPr>
        <p:spPr>
          <a:xfrm>
            <a:off x="2191843" y="2962586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anchor="b" tIns="0">
            <a:normAutofit/>
          </a:bodyPr>
          <a:lstStyle>
            <a:lvl1pPr algn="r" indent="0" marL="0">
              <a:buNone/>
              <a:defRPr sz="18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5059C3-6A89-4494-99FF-5A4D6FFD50EB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Dos objetos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Rectangle 25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1" name="Rectangle 26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5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65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6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A954B2F-12DE-47F5-8894-472B206D2E1E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  <p:sp>
        <p:nvSpPr>
          <p:cNvPr id="1048658" name="TextBox 9"/>
          <p:cNvSpPr txBox="1"/>
          <p:nvPr/>
        </p:nvSpPr>
        <p:spPr>
          <a:xfrm>
            <a:off x="2196172" y="641223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ació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19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0" name="Rectangle 20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1" name="TextBox 11"/>
          <p:cNvSpPr txBox="1"/>
          <p:nvPr/>
        </p:nvSpPr>
        <p:spPr>
          <a:xfrm>
            <a:off x="2193650" y="636424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104866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6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algn="l" indent="0" marL="0">
              <a:lnSpc>
                <a:spcPct val="100000"/>
              </a:lnSpc>
              <a:buNone/>
              <a:defRPr baseline="0" b="0" cap="none" sz="2200">
                <a:solidFill>
                  <a:schemeClr val="accent6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866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66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algn="l" indent="0" marL="0">
              <a:lnSpc>
                <a:spcPct val="100000"/>
              </a:lnSpc>
              <a:buNone/>
              <a:defRPr baseline="0" b="0" cap="none" sz="2200">
                <a:solidFill>
                  <a:schemeClr val="accent6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866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66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F30E46F-7819-4ACF-B48B-48222C2ACC88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6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6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Solo el título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Rectangle 12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11" name="Rectangle 13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1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AF3416-4057-4DAA-829D-4CA07428D088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  <p:sp>
        <p:nvSpPr>
          <p:cNvPr id="1048616" name="TextBox 7"/>
          <p:cNvSpPr txBox="1"/>
          <p:nvPr/>
        </p:nvSpPr>
        <p:spPr>
          <a:xfrm>
            <a:off x="2196172" y="641226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En blanco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Rectangle 11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1" name="Rectangle 12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21D9284-D300-4297-87F7-E791DCC15DB1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7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7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ido con título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Rectangle 24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6" name="Rectangle 25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7" name="TextBox 9"/>
          <p:cNvSpPr txBox="1"/>
          <p:nvPr/>
        </p:nvSpPr>
        <p:spPr>
          <a:xfrm>
            <a:off x="1554154" y="1127550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680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algn="l"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868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D525BB-DA17-4BA0-B3C8-3AC3ABC827E6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8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8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Imagen con título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Rectangle 18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6" name="Rectangle 19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7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algn="ctr" indent="0" marL="0">
              <a:buNone/>
              <a:defRPr sz="28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dirty="0" lang="en-US"/>
          </a:p>
        </p:txBody>
      </p:sp>
      <p:sp>
        <p:nvSpPr>
          <p:cNvPr id="1048628" name="TextBox 9"/>
          <p:cNvSpPr txBox="1"/>
          <p:nvPr/>
        </p:nvSpPr>
        <p:spPr>
          <a:xfrm>
            <a:off x="1554686" y="1127550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30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algn="l" indent="0" marL="0">
              <a:buNone/>
              <a:defRPr sz="20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16C4C9A-3960-41CF-A4E9-2A8FB932454B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ítulo y texto vertical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Rectangle 13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35" name="Rectangle 14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36" name="TextBox 8"/>
          <p:cNvSpPr txBox="1"/>
          <p:nvPr/>
        </p:nvSpPr>
        <p:spPr>
          <a:xfrm>
            <a:off x="2194236" y="641225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3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857E33E-8B18-4087-B112-809917729534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Título vertical y texto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Rectangle 14"/>
          <p:cNvSpPr/>
          <p:nvPr/>
        </p:nvSpPr>
        <p:spPr>
          <a:xfrm>
            <a:off x="1004479" y="0"/>
            <a:ext cx="10372316" cy="6858000"/>
          </a:xfrm>
          <a:prstGeom prst="rect"/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18" name="Rectangle 15"/>
          <p:cNvSpPr/>
          <p:nvPr/>
        </p:nvSpPr>
        <p:spPr>
          <a:xfrm>
            <a:off x="11377328" y="0"/>
            <a:ext cx="27432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1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dirty="0" sz="1800" lang="en-US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dirty="0" sz="1000" lang="en-US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1048620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/>
          </a:lstStyle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62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3FFE419-2371-464F-8239-3959401C3561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
              </a:t>
            </a:r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7"/>
          <p:cNvPicPr>
            <a:picLocks noChangeAspect="1"/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2831794" y="2105202"/>
            <a:ext cx="9360205" cy="4752798"/>
          </a:xfrm>
          <a:prstGeom prst="rect"/>
        </p:spPr>
      </p:pic>
      <p:pic>
        <p:nvPicPr>
          <p:cNvPr id="2097153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0" y="0"/>
            <a:ext cx="12189867" cy="6858000"/>
          </a:xfrm>
          <a:prstGeom prst="rect"/>
        </p:spPr>
      </p:pic>
      <p:sp>
        <p:nvSpPr>
          <p:cNvPr id="1048576" name="Rectangle 7"/>
          <p:cNvSpPr/>
          <p:nvPr/>
        </p:nvSpPr>
        <p:spPr>
          <a:xfrm>
            <a:off x="0" y="0"/>
            <a:ext cx="964174" cy="6858000"/>
          </a:xfrm>
          <a:prstGeom prst="rect"/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7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s-ES"/>
              <a:t>Haga clic para modificar el estilo de título del patrón</a:t>
            </a:r>
            <a:endParaRPr dirty="0" lang="en-US"/>
          </a:p>
        </p:txBody>
      </p:sp>
      <p:sp>
        <p:nvSpPr>
          <p:cNvPr id="1048578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dirty="0" lang="en-US"/>
          </a:p>
        </p:txBody>
      </p:sp>
      <p:sp>
        <p:nvSpPr>
          <p:cNvPr id="1048579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/>
        </p:spPr>
        <p:txBody>
          <a:bodyPr anchor="t" bIns="45720" lIns="91440" rIns="91440" rtlCol="0" tIns="18288" vert="horz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dirty="0" lang="en-US"/>
              <a:t>5/14/2026</a:t>
            </a:fld>
            <a:endParaRPr dirty="0" lang="en-US"/>
          </a:p>
        </p:txBody>
      </p:sp>
      <p:sp>
        <p:nvSpPr>
          <p:cNvPr id="1048580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/>
        </p:spPr>
        <p:txBody>
          <a:bodyPr anchor="b" bIns="18288" lIns="91440" rIns="91440" rtlCol="0" tIns="45720" vert="horz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dirty="0" lang="en-US"/>
              <a:t>
              </a:t>
            </a:r>
          </a:p>
        </p:txBody>
      </p:sp>
      <p:sp>
        <p:nvSpPr>
          <p:cNvPr id="104858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/>
        </p:spPr>
        <p:txBody>
          <a:bodyPr anchor="ctr" bIns="45720" lIns="91440" rIns="45720" rtlCol="0" tIns="45720" vert="horz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dirty="0" lang="en-US"/>
              <a:t>‹Nº›</a:t>
            </a:fld>
            <a:endParaRPr dirty="0" lang="en-US"/>
          </a:p>
        </p:txBody>
      </p:sp>
      <p:sp>
        <p:nvSpPr>
          <p:cNvPr id="1048582" name="Rectangle 56"/>
          <p:cNvSpPr/>
          <p:nvPr/>
        </p:nvSpPr>
        <p:spPr>
          <a:xfrm>
            <a:off x="962042" y="0"/>
            <a:ext cx="45719" cy="6858000"/>
          </a:xfrm>
          <a:prstGeom prst="rect"/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accent1="accent1" accent2="accent2" accent3="accent3" accent4="accent4" accent5="accent5" accent6="accent6" bg1="dk1" bg2="dk2" tx1="lt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r" defTabSz="914400" eaLnBrk="1" hangingPunct="1" latinLnBrk="0" rtl="0">
        <a:lnSpc>
          <a:spcPct val="90000"/>
        </a:lnSpc>
        <a:spcBef>
          <a:spcPct val="0"/>
        </a:spcBef>
        <a:buNone/>
        <a:defRPr b="0" cap="none" sz="3400" i="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algn="l" defTabSz="914400" eaLnBrk="1" hangingPunct="1" indent="-344488" latinLnBrk="0" marL="344488" rtl="0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914400" eaLnBrk="1" hangingPunct="1" indent="-338138" latinLnBrk="0" marL="795338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914400" eaLnBrk="1" hangingPunct="1" indent="-344488" latinLnBrk="0" marL="1258888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914400" eaLnBrk="1" hangingPunct="1" indent="-338138" latinLnBrk="0" marL="1709738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914400" eaLnBrk="1" hangingPunct="1" indent="-344488" latinLnBrk="0" marL="2173288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914400" eaLnBrk="1" hangingPunct="1" indent="-338328" latinLnBrk="0" marL="2642616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baseline="0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914400" eaLnBrk="1" hangingPunct="1" indent="-338328" latinLnBrk="0" marL="310896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baseline="0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914400" eaLnBrk="1" hangingPunct="1" indent="-338328" latinLnBrk="0" marL="3575304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baseline="0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914400" eaLnBrk="1" hangingPunct="1" indent="-338328" latinLnBrk="0" marL="4041648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baseline="0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ítulo 1"/>
          <p:cNvSpPr>
            <a:spLocks noGrp="1"/>
          </p:cNvSpPr>
          <p:nvPr>
            <p:ph type="ctrTitle"/>
          </p:nvPr>
        </p:nvSpPr>
        <p:spPr>
          <a:xfrm>
            <a:off x="8814976" y="2000461"/>
            <a:ext cx="3566160" cy="5193794"/>
          </a:xfrm>
        </p:spPr>
        <p:txBody>
          <a:bodyPr>
            <a:normAutofit/>
          </a:bodyPr>
          <a:p>
            <a:pPr algn="ctr"/>
            <a:r>
              <a:rPr dirty="0" sz="4800" lang="es-PE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“Aroma y    Tierra Negocio Culinario”</a:t>
            </a:r>
          </a:p>
        </p:txBody>
      </p:sp>
      <p:pic>
        <p:nvPicPr>
          <p:cNvPr id="2097154" name="Imagen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739" t="623"/>
          <a:stretch>
            <a:fillRect/>
          </a:stretch>
        </p:blipFill>
        <p:spPr>
          <a:xfrm>
            <a:off x="1348340" y="1304274"/>
            <a:ext cx="7118478" cy="4047544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ítulo 1"/>
          <p:cNvSpPr>
            <a:spLocks noGrp="1"/>
          </p:cNvSpPr>
          <p:nvPr>
            <p:ph type="title"/>
          </p:nvPr>
        </p:nvSpPr>
        <p:spPr>
          <a:xfrm>
            <a:off x="1414272" y="714995"/>
            <a:ext cx="4888667" cy="1077229"/>
          </a:xfrm>
        </p:spPr>
        <p:txBody>
          <a:bodyPr>
            <a:normAutofit/>
          </a:bodyPr>
          <a:p>
            <a:r>
              <a:rPr b="1" dirty="0" sz="2800" lang="es-PE" u="sng"/>
              <a:t>PROBLEMA Y OBJETIVO:</a:t>
            </a:r>
          </a:p>
        </p:txBody>
      </p:sp>
      <p:sp>
        <p:nvSpPr>
          <p:cNvPr id="1048601" name="Marcador de contenido 2"/>
          <p:cNvSpPr>
            <a:spLocks noGrp="1"/>
          </p:cNvSpPr>
          <p:nvPr>
            <p:ph idx="1"/>
          </p:nvPr>
        </p:nvSpPr>
        <p:spPr>
          <a:xfrm>
            <a:off x="1584960" y="1792224"/>
            <a:ext cx="8753531" cy="3742944"/>
          </a:xfrm>
        </p:spPr>
        <p:txBody>
          <a:bodyPr>
            <a:normAutofit fontScale="95000"/>
          </a:bodyPr>
          <a:p>
            <a:r>
              <a:rPr dirty="0" lang="es-MX"/>
              <a:t>Nuestro proyecto nace de un problema real: en Ica muchos restaurantes de comida criolla siguen trabajando con cuadernos y llamadas para tomar pedidos. Eso genera errores, pérdida de tiempo y clientes molestos que no vuelven.</a:t>
            </a:r>
          </a:p>
          <a:p>
            <a:r>
              <a:rPr dirty="0" lang="es-MX"/>
              <a:t>Nuestro objetivo es crear una herramienta digital simple, barata y fácil de usar para que nos ayude a modernizarse sin invertir en sistemas caros.</a:t>
            </a:r>
          </a:p>
          <a:p>
            <a:r>
              <a:rPr dirty="0" lang="es-MX"/>
              <a:t>Queremos que un restaurante pequeño pueda recibir pedidos ordenados directo desde el celular del cliente, como lo hacen las grandes cadenas."</a:t>
            </a:r>
          </a:p>
          <a:p>
            <a:endParaRPr dirty="0" lang="es-PE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ítulo 1"/>
          <p:cNvSpPr>
            <a:spLocks noGrp="1"/>
          </p:cNvSpPr>
          <p:nvPr>
            <p:ph type="title"/>
          </p:nvPr>
        </p:nvSpPr>
        <p:spPr>
          <a:xfrm>
            <a:off x="170689" y="625176"/>
            <a:ext cx="9741082" cy="1077229"/>
          </a:xfrm>
        </p:spPr>
        <p:txBody>
          <a:bodyPr>
            <a:normAutofit/>
          </a:bodyPr>
          <a:p>
            <a:r>
              <a:rPr b="1" dirty="0" sz="2400" lang="es-MX" u="sng"/>
              <a:t>QUE ES LA APP Y COMO FUNCIONA PARA EL CLIENTE:</a:t>
            </a:r>
            <a:endParaRPr b="1" dirty="0" sz="2400" lang="es-PE" u="sng"/>
          </a:p>
        </p:txBody>
      </p:sp>
      <p:sp>
        <p:nvSpPr>
          <p:cNvPr id="1048603" name="Marcador de contenido 2"/>
          <p:cNvSpPr>
            <a:spLocks noGrp="1"/>
          </p:cNvSpPr>
          <p:nvPr>
            <p:ph idx="1"/>
          </p:nvPr>
        </p:nvSpPr>
        <p:spPr>
          <a:xfrm>
            <a:off x="1536192" y="1702405"/>
            <a:ext cx="9095231" cy="3851524"/>
          </a:xfrm>
        </p:spPr>
        <p:txBody>
          <a:bodyPr>
            <a:normAutofit fontScale="85000" lnSpcReduction="20000"/>
          </a:bodyPr>
          <a:p>
            <a:r>
              <a:rPr dirty="0" lang="es-MX"/>
              <a:t>"Entonces desarrollamos </a:t>
            </a:r>
            <a:r>
              <a:rPr dirty="0" i="1" lang="es-MX"/>
              <a:t>Aroma y Tierra App</a:t>
            </a:r>
            <a:r>
              <a:rPr dirty="0" lang="es-MX"/>
              <a:t>, un sistema de pedidos hecho en R con </a:t>
            </a:r>
            <a:r>
              <a:rPr dirty="0" lang="es-MX" err="1"/>
              <a:t>Shiny</a:t>
            </a:r>
            <a:r>
              <a:rPr dirty="0" lang="es-MX"/>
              <a:t>.</a:t>
            </a:r>
          </a:p>
          <a:p>
            <a:r>
              <a:rPr dirty="0" lang="es-MX"/>
              <a:t>Desde el lado del cliente funciona así: entra a la app y ve el menú completo con 40 platos típicos peruanos. Cada plato tiene precio para comer en el salón y precio para llevar.</a:t>
            </a:r>
          </a:p>
          <a:p>
            <a:r>
              <a:rPr dirty="0" lang="es-MX"/>
              <a:t>Puede filtrar por categoría: entradas, sopas, marinos, criollos, regionales. También puede poner un precio máximo para ajustar a su presupuesto.</a:t>
            </a:r>
          </a:p>
          <a:p>
            <a:r>
              <a:rPr dirty="0" lang="es-MX"/>
              <a:t>Cuando encuentra lo que quiere, le da al botón + y se agrega al carrito. En todo momento ve el total que va a pagar.</a:t>
            </a:r>
          </a:p>
          <a:p>
            <a:r>
              <a:rPr dirty="0" lang="es-MX"/>
              <a:t>La idea era que sea rápido, intuitivo, sin registros ni contraseñas. Que en menos de 2 minutos tengas tu pedido listo."</a:t>
            </a:r>
          </a:p>
          <a:p>
            <a:endParaRPr dirty="0" lang="es-PE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ítulo 1"/>
          <p:cNvSpPr>
            <a:spLocks noGrp="1"/>
          </p:cNvSpPr>
          <p:nvPr>
            <p:ph type="title"/>
          </p:nvPr>
        </p:nvSpPr>
        <p:spPr>
          <a:xfrm>
            <a:off x="270944" y="625176"/>
            <a:ext cx="7958331" cy="1077229"/>
          </a:xfrm>
        </p:spPr>
        <p:txBody>
          <a:bodyPr>
            <a:normAutofit/>
          </a:bodyPr>
          <a:p>
            <a:r>
              <a:rPr b="1" dirty="0" sz="2800" lang="es-MX" u="sng"/>
              <a:t>FLUJO DE PEDIDO Y TECNOLOGIA:</a:t>
            </a:r>
            <a:endParaRPr b="1" dirty="0" sz="2800" lang="es-PE" u="sng"/>
          </a:p>
        </p:txBody>
      </p:sp>
      <p:sp>
        <p:nvSpPr>
          <p:cNvPr id="1048605" name="Marcador de contenido 2"/>
          <p:cNvSpPr>
            <a:spLocks noGrp="1"/>
          </p:cNvSpPr>
          <p:nvPr>
            <p:ph idx="1"/>
          </p:nvPr>
        </p:nvSpPr>
        <p:spPr>
          <a:xfrm>
            <a:off x="1810431" y="1702405"/>
            <a:ext cx="7796540" cy="3997828"/>
          </a:xfrm>
        </p:spPr>
        <p:txBody>
          <a:bodyPr>
            <a:normAutofit fontScale="85000" lnSpcReduction="10000"/>
          </a:bodyPr>
          <a:p>
            <a:r>
              <a:rPr dirty="0" lang="es-MX"/>
              <a:t>"La parte más importante viene después: el envío por WhatsApp.</a:t>
            </a:r>
          </a:p>
          <a:p>
            <a:r>
              <a:rPr dirty="0" lang="es-MX"/>
              <a:t>El cliente llena nombre, celular y dirección. Con un botón la app genera un mensaje automático con todo el pedido, el total y el tipo de servicio.</a:t>
            </a:r>
          </a:p>
          <a:p>
            <a:r>
              <a:rPr dirty="0" lang="es-MX"/>
              <a:t>Ese mensaje se abre directo en WhatsApp del restaurante, listo para enviar. Así evitamos errores de comunicación y el dueño recibe el pedido estructurado.</a:t>
            </a:r>
          </a:p>
          <a:p>
            <a:r>
              <a:rPr dirty="0" lang="es-MX"/>
              <a:t>Técnicamente usamos R y el paquete </a:t>
            </a:r>
            <a:r>
              <a:rPr dirty="0" lang="es-MX" err="1"/>
              <a:t>Shiny</a:t>
            </a:r>
            <a:r>
              <a:rPr dirty="0" lang="es-MX"/>
              <a:t> para la interfaz, DT para las tablas interactivas, y </a:t>
            </a:r>
            <a:r>
              <a:rPr dirty="0" lang="es-MX" err="1"/>
              <a:t>dplyr</a:t>
            </a:r>
            <a:r>
              <a:rPr dirty="0" lang="es-MX"/>
              <a:t> para manejar los datos.</a:t>
            </a:r>
          </a:p>
          <a:p>
            <a:r>
              <a:rPr dirty="0" lang="es-MX"/>
              <a:t>Todo el código está en GitHub, y la app corre en </a:t>
            </a:r>
            <a:r>
              <a:rPr dirty="0" lang="es-MX" err="1"/>
              <a:t>Posit</a:t>
            </a:r>
            <a:r>
              <a:rPr dirty="0" lang="es-MX"/>
              <a:t> Cloud, así que no necesitas instalar nada. Solo internet y un navegador."</a:t>
            </a:r>
          </a:p>
          <a:p>
            <a:endParaRPr dirty="0" lang="es-PE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ítulo 1"/>
          <p:cNvSpPr>
            <a:spLocks noGrp="1"/>
          </p:cNvSpPr>
          <p:nvPr>
            <p:ph type="title"/>
          </p:nvPr>
        </p:nvSpPr>
        <p:spPr>
          <a:xfrm>
            <a:off x="-54783" y="739379"/>
            <a:ext cx="9899904" cy="1077229"/>
          </a:xfrm>
        </p:spPr>
        <p:txBody>
          <a:bodyPr>
            <a:normAutofit/>
          </a:bodyPr>
          <a:p>
            <a:r>
              <a:rPr b="1" dirty="0" sz="2800" lang="es-PE" u="sng"/>
              <a:t>VALOR PARA EL NEGOCIO , CIERRE Y DEMO:</a:t>
            </a:r>
          </a:p>
        </p:txBody>
      </p:sp>
      <p:sp>
        <p:nvSpPr>
          <p:cNvPr id="1048607" name="Marcador de contenido 2"/>
          <p:cNvSpPr>
            <a:spLocks noGrp="1"/>
          </p:cNvSpPr>
          <p:nvPr>
            <p:ph idx="1"/>
          </p:nvPr>
        </p:nvSpPr>
        <p:spPr>
          <a:xfrm>
            <a:off x="1755647" y="1816608"/>
            <a:ext cx="8302753" cy="3877055"/>
          </a:xfrm>
        </p:spPr>
        <p:txBody>
          <a:bodyPr>
            <a:normAutofit fontScale="95000" lnSpcReduction="20000"/>
          </a:bodyPr>
          <a:p>
            <a:r>
              <a:rPr dirty="0" lang="es-MX"/>
              <a:t>"Para el dueño del restaurante, la app incluye un dashboard de ventas. Ahí puede ver cuántos platos tiene en carta, cuál es el más caro, el más económico, y cuántos platos hay por categoría.</a:t>
            </a:r>
          </a:p>
          <a:p>
            <a:r>
              <a:rPr dirty="0" lang="es-MX"/>
              <a:t>Esto le sirve para tomar decisiones: qué platos promocionar, qué precios ajustar, qué categoría tiene más demanda.</a:t>
            </a:r>
          </a:p>
          <a:p>
            <a:r>
              <a:rPr dirty="0" lang="es-MX"/>
              <a:t>En resumen, </a:t>
            </a:r>
            <a:r>
              <a:rPr dirty="0" i="1" lang="es-MX"/>
              <a:t>Aroma y Tierra</a:t>
            </a:r>
            <a:r>
              <a:rPr dirty="0" lang="es-MX"/>
              <a:t> une tradición con tecnología. Mantiene la esencia de la comida criolla peruana, pero le da al negocio herramientas para vender mejor y atender más rápido.</a:t>
            </a:r>
          </a:p>
          <a:p>
            <a:r>
              <a:rPr dirty="0" lang="es-MX"/>
              <a:t>[Demo 30 </a:t>
            </a:r>
            <a:r>
              <a:rPr dirty="0" lang="es-MX" err="1"/>
              <a:t>seg</a:t>
            </a:r>
            <a:r>
              <a:rPr dirty="0" lang="es-MX"/>
              <a:t>]: Les muestro rápido. Agrego una Pollada Completa y un Chupe de Camarones al carrito, pongo mis datos, y miren cómo se genera el mensaje de WhatsApp listo para enviar."</a:t>
            </a:r>
          </a:p>
          <a:p>
            <a:endParaRPr dirty="0" lang="es-PE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ítulo 1"/>
          <p:cNvSpPr>
            <a:spLocks noGrp="1"/>
          </p:cNvSpPr>
          <p:nvPr>
            <p:ph type="title"/>
          </p:nvPr>
        </p:nvSpPr>
        <p:spPr>
          <a:xfrm>
            <a:off x="621793" y="499873"/>
            <a:ext cx="6455684" cy="1597152"/>
          </a:xfrm>
        </p:spPr>
        <p:txBody>
          <a:bodyPr>
            <a:normAutofit/>
          </a:bodyPr>
          <a:p>
            <a:r>
              <a:rPr dirty="0" sz="3200" lang="es-PE"/>
              <a:t>JUSTIFICACION DE DATOS</a:t>
            </a:r>
          </a:p>
        </p:txBody>
      </p:sp>
      <p:pic>
        <p:nvPicPr>
          <p:cNvPr id="2097155" name="Imagen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873998" y="1652712"/>
            <a:ext cx="4444003" cy="4705415"/>
          </a:xfrm>
          <a:prstGeom prst="rect"/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Marcador de contenido 2"/>
          <p:cNvSpPr>
            <a:spLocks noGrp="1"/>
          </p:cNvSpPr>
          <p:nvPr>
            <p:ph idx="1"/>
          </p:nvPr>
        </p:nvSpPr>
        <p:spPr>
          <a:xfrm>
            <a:off x="3633216" y="999743"/>
            <a:ext cx="7375997" cy="1448607"/>
          </a:xfrm>
        </p:spPr>
        <p:txBody>
          <a:bodyPr>
            <a:normAutofit/>
          </a:bodyPr>
          <a:p>
            <a:r>
              <a:rPr b="1" dirty="0" sz="8800" lang="es-PE"/>
              <a:t>GRACIAS</a:t>
            </a:r>
            <a:r>
              <a:rPr b="1" dirty="0" sz="8800" lang="es-PE">
                <a:sym typeface="Wingdings" panose="05000000000000000000" pitchFamily="2" charset="2"/>
              </a:rPr>
              <a:t></a:t>
            </a:r>
            <a:endParaRPr b="1" dirty="0" sz="8800" lang="es-PE"/>
          </a:p>
        </p:txBody>
      </p:sp>
      <p:pic>
        <p:nvPicPr>
          <p:cNvPr id="2097156" name="Picture 2" descr="AI generated image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243584" y="2837439"/>
            <a:ext cx="5279136" cy="2879466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split orient="ver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Madison">
  <a:themeElements>
    <a:clrScheme name="Madison">
      <a:dk1>
        <a:sysClr lastClr="000000" val="windowText"/>
      </a:dk1>
      <a:lt1>
        <a:sysClr lastClr="FFFFFF" val="window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>
            <a:fillRect/>
          </a:stretch>
        </a:blip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nuria LE</dc:creator>
  <cp:lastModifiedBy>nuria LE</cp:lastModifiedBy>
  <dcterms:created xsi:type="dcterms:W3CDTF">2026-05-15T09:14:46Z</dcterms:created>
  <dcterms:modified xsi:type="dcterms:W3CDTF">2026-05-15T06:27:52Z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aa0f8397e47545e7adc057b1d0116474</vt:lpwstr>
  </property>
</Properties>
</file>